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-914400"/>
            <a:ext cx="7315200" cy="7315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1828800"/>
            <a:ext cx="6400800" cy="5486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4572000"/>
            <a:ext cx="4572000" cy="3657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600" b="1">
                <a:solidFill>
                  <a:srgbClr val="FFFFFF"/>
                </a:solidFill>
                <a:latin typeface="PingFang SC"/>
              </a:rPr>
              <a:t>品牌升级
从 0 到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831843"/>
                </a:solidFill>
                <a:latin typeface="PingFang SC"/>
              </a:rPr>
              <a:t>01 品牌故事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9D174D"/>
                </a:solidFill>
                <a:latin typeface="PingFang SC"/>
              </a:rPr>
              <a:t>从工坊到全球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81C87"/>
                </a:solidFill>
                <a:latin typeface="PingFang SC"/>
              </a:rPr>
              <a:t>三大支柱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286000"/>
            <a:ext cx="3200400" cy="3200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0" y="2286000"/>
            <a:ext cx="3200400" cy="3200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0" y="2286000"/>
            <a:ext cx="3200400" cy="3200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FFFF"/>
                </a:solidFill>
                <a:latin typeface="PingFang SC"/>
              </a:rPr>
              <a:t>创新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33832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FFFF"/>
                </a:solidFill>
                <a:latin typeface="PingFang SC"/>
              </a:rPr>
              <a:t>品质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3832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FFFF"/>
                </a:solidFill>
                <a:latin typeface="PingFang SC"/>
              </a:rPr>
              <a:t>社群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81C87"/>
                </a:solidFill>
                <a:latin typeface="PingFang SC"/>
              </a:rPr>
              <a:t>增长数据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581C87"/>
                </a:solidFill>
                <a:latin typeface="PingFang SC"/>
              </a:rPr>
              <a:t>• 月活: 50 万 → 230 万</a:t>
            </a:r>
          </a:p>
          <a:p>
            <a:r>
              <a:rPr sz="2200">
                <a:solidFill>
                  <a:srgbClr val="581C87"/>
                </a:solidFill>
                <a:latin typeface="PingFang SC"/>
              </a:rPr>
              <a:t>• 转化率: 2.1% → 5.8%</a:t>
            </a:r>
          </a:p>
          <a:p>
            <a:r>
              <a:rPr sz="2200">
                <a:solidFill>
                  <a:srgbClr val="581C87"/>
                </a:solidFill>
                <a:latin typeface="PingFang SC"/>
              </a:rPr>
              <a:t>• NPS: 42 → 67</a:t>
            </a:r>
          </a:p>
          <a:p>
            <a:r>
              <a:rPr sz="2200">
                <a:solidFill>
                  <a:srgbClr val="581C87"/>
                </a:solidFill>
                <a:latin typeface="PingFang SC"/>
              </a:rPr>
              <a:t>• 客单价: ¥299 → ¥459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81C87"/>
                </a:solidFill>
                <a:latin typeface="PingFang SC"/>
              </a:rPr>
              <a:t>用户故事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2011680"/>
            <a:ext cx="5303520" cy="36576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09360" y="2011680"/>
            <a:ext cx="5303520" cy="36576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  <a:latin typeface="PingFang SC"/>
              </a:rPr>
              <a:t>"我每天早上都用它来开始创作。"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274320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  <a:latin typeface="PingFang SC"/>
              </a:rPr>
              <a:t>"灵犀让品牌升级像游戏一样有趣。"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E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831843"/>
                </a:solidFill>
                <a:latin typeface="PingFang SC"/>
              </a:rPr>
              <a:t>02 未来路线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81C87"/>
                </a:solidFill>
                <a:latin typeface="PingFang SC"/>
              </a:rPr>
              <a:t>2026 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581C87"/>
                </a:solidFill>
                <a:latin typeface="PingFang SC"/>
              </a:rPr>
              <a:t>• Q1: AI 助手上线</a:t>
            </a:r>
          </a:p>
          <a:p>
            <a:r>
              <a:rPr sz="2400">
                <a:solidFill>
                  <a:srgbClr val="581C87"/>
                </a:solidFill>
                <a:latin typeface="PingFang SC"/>
              </a:rPr>
              <a:t>• Q2: 移动端 App</a:t>
            </a:r>
          </a:p>
          <a:p>
            <a:r>
              <a:rPr sz="2400">
                <a:solidFill>
                  <a:srgbClr val="581C87"/>
                </a:solidFill>
                <a:latin typeface="PingFang SC"/>
              </a:rPr>
              <a:t>• Q3: 全球扩张</a:t>
            </a:r>
          </a:p>
          <a:p>
            <a:r>
              <a:rPr sz="2400">
                <a:solidFill>
                  <a:srgbClr val="581C87"/>
                </a:solidFill>
                <a:latin typeface="PingFang SC"/>
              </a:rPr>
              <a:t>• Q4: IPO 准备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0" y="1828800"/>
            <a:ext cx="3017520" cy="3017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581C87"/>
                </a:solidFill>
                <a:latin typeface="PingFang SC"/>
              </a:rPr>
              <a:t>"让每个人都能成为创作者。"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81C87"/>
                </a:solidFill>
                <a:latin typeface="PingFang SC"/>
              </a:rPr>
              <a:t>团队介绍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831843"/>
                </a:solidFill>
                <a:latin typeface="PingFang SC"/>
              </a:rPr>
              <a:t>60+ 同事 · 来自 12 个国家 · 平均年龄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4572000"/>
            <a:ext cx="12801600" cy="2743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5943600"/>
            <a:ext cx="12801600" cy="1828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PingFang SC"/>
              </a:rPr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