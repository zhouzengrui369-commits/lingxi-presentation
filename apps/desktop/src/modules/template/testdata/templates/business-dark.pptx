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C9A227"/>
                </a:solidFill>
                <a:latin typeface="Microsoft YaHei"/>
              </a:rPr>
              <a:t>2026 Q1 业务回顾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E8E8E8"/>
                </a:solidFill>
                <a:latin typeface="Microsoft YaHei"/>
              </a:rPr>
              <a:t>董事会汇报 · 仅限内部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120640"/>
            <a:ext cx="110642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C9A227"/>
                </a:solidFill>
                <a:latin typeface="Microsoft YaHei"/>
              </a:rPr>
              <a:t>01 业绩概览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E8E8E8"/>
                </a:solidFill>
                <a:latin typeface="Microsoft YaHei"/>
              </a:rPr>
              <a:t>营收达成率 108% · 同比增长 23%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  <a:latin typeface="Microsoft YaHei"/>
              </a:rPr>
              <a:t>关键数字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Microsoft YaHei"/>
              </a:rPr>
              <a:t>• 营收 1.42 亿</a:t>
            </a:r>
          </a:p>
          <a:p>
            <a:r>
              <a:rPr sz="2200">
                <a:solidFill>
                  <a:srgbClr val="FFFFFF"/>
                </a:solidFill>
                <a:latin typeface="Microsoft YaHei"/>
              </a:rPr>
              <a:t>• 毛利 5,800 万</a:t>
            </a:r>
          </a:p>
          <a:p>
            <a:r>
              <a:rPr sz="2200">
                <a:solidFill>
                  <a:srgbClr val="FFFFFF"/>
                </a:solidFill>
                <a:latin typeface="Microsoft YaHei"/>
              </a:rPr>
              <a:t>• 净利 2,310 万</a:t>
            </a:r>
          </a:p>
          <a:p>
            <a:r>
              <a:rPr sz="2200">
                <a:solidFill>
                  <a:srgbClr val="FFFFFF"/>
                </a:solidFill>
                <a:latin typeface="Microsoft YaHei"/>
              </a:rPr>
              <a:t>• ARPU 同比 +18%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  <a:latin typeface="Microsoft YaHei"/>
              </a:rPr>
              <a:t>区域表现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Microsoft YaHei"/>
              </a:rPr>
              <a:t>• 华东: 5,400 万 (+25%)</a:t>
            </a:r>
          </a:p>
          <a:p>
            <a:r>
              <a:rPr sz="2000">
                <a:solidFill>
                  <a:srgbClr val="FFFFFF"/>
                </a:solidFill>
                <a:latin typeface="Microsoft YaHei"/>
              </a:rPr>
              <a:t>• 华南: 3,800 万 (+18%)</a:t>
            </a:r>
          </a:p>
          <a:p>
            <a:r>
              <a:rPr sz="2000">
                <a:solidFill>
                  <a:srgbClr val="FFFFFF"/>
                </a:solidFill>
                <a:latin typeface="Microsoft YaHei"/>
              </a:rPr>
              <a:t>• 华北: 3,200 万 (+30%)</a:t>
            </a:r>
          </a:p>
          <a:p>
            <a:r>
              <a:rPr sz="2000">
                <a:solidFill>
                  <a:srgbClr val="FFFFFF"/>
                </a:solidFill>
                <a:latin typeface="Microsoft YaHei"/>
              </a:rPr>
              <a:t>• 西部: 1,800 万 (+15%)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  <a:latin typeface="Microsoft YaHei"/>
              </a:rPr>
              <a:t>客户增长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Microsoft YaHei"/>
              </a:rPr>
              <a:t>新增企业客户</a:t>
            </a:r>
          </a:p>
          <a:p>
            <a:r>
              <a:rPr sz="2800">
                <a:solidFill>
                  <a:srgbClr val="FFFFFF"/>
                </a:solidFill>
                <a:latin typeface="Microsoft YaHei"/>
              </a:rPr>
              <a:t>42 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C9A227"/>
                </a:solidFill>
                <a:latin typeface="Microsoft YaHei"/>
              </a:rPr>
              <a:t>续约率</a:t>
            </a:r>
          </a:p>
          <a:p>
            <a:r>
              <a:rPr sz="2800">
                <a:solidFill>
                  <a:srgbClr val="C9A227"/>
                </a:solidFill>
                <a:latin typeface="Microsoft YaHei"/>
              </a:rPr>
              <a:t>91%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C9A227"/>
                </a:solidFill>
                <a:latin typeface="Microsoft YaHei"/>
              </a:rPr>
              <a:t>02 产品线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  <a:latin typeface="Microsoft YaHei"/>
              </a:rPr>
              <a:t>产品矩阵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Microsoft YaHei"/>
              </a:rPr>
              <a:t>旗舰版 · 增长版 · 入门版 · 定制版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C9A227"/>
                </a:solidFill>
                <a:latin typeface="Microsoft YaHei"/>
              </a:rPr>
              <a:t>"灵犀演示让我们的季度汇报从 3 天压缩到 4 小时。"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Microsoft YaHei"/>
              </a:rPr>
              <a:t>— 张总监 · 某制造业上市公司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  <a:latin typeface="Microsoft YaHei"/>
              </a:rPr>
              <a:t>风险与挑战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Microsoft YaHei"/>
              </a:rPr>
              <a:t>• 原材料成本上涨 12%</a:t>
            </a:r>
          </a:p>
          <a:p>
            <a:r>
              <a:rPr sz="2200">
                <a:solidFill>
                  <a:srgbClr val="FFFFFF"/>
                </a:solidFill>
                <a:latin typeface="Microsoft YaHei"/>
              </a:rPr>
              <a:t>• 汇率波动影响海外营收</a:t>
            </a:r>
          </a:p>
          <a:p>
            <a:r>
              <a:rPr sz="2200">
                <a:solidFill>
                  <a:srgbClr val="FFFFFF"/>
                </a:solidFill>
                <a:latin typeface="Microsoft YaHei"/>
              </a:rPr>
              <a:t>• 新业务线尚在投入期</a:t>
            </a:r>
          </a:p>
          <a:p>
            <a:r>
              <a:rPr sz="2200">
                <a:solidFill>
                  <a:srgbClr val="FFFFFF"/>
                </a:solidFill>
                <a:latin typeface="Microsoft YaHei"/>
              </a:rPr>
              <a:t>• 监管政策变化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C9A227"/>
                </a:solidFill>
                <a:latin typeface="Microsoft YaHei"/>
              </a:rPr>
              <a:t>Q2 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Microsoft YaHei"/>
              </a:rPr>
              <a:t>• 聚焦核心产品迭代</a:t>
            </a:r>
          </a:p>
          <a:p>
            <a:r>
              <a:rPr sz="2400">
                <a:solidFill>
                  <a:srgbClr val="FFFFFF"/>
                </a:solidFill>
                <a:latin typeface="Microsoft YaHei"/>
              </a:rPr>
              <a:t>• 扩大华东华南覆盖</a:t>
            </a:r>
          </a:p>
          <a:p>
            <a:r>
              <a:rPr sz="2400">
                <a:solidFill>
                  <a:srgbClr val="FFFFFF"/>
                </a:solidFill>
                <a:latin typeface="Microsoft YaHei"/>
              </a:rPr>
              <a:t>• 启动海外试点</a:t>
            </a:r>
          </a:p>
          <a:p>
            <a:r>
              <a:rPr sz="2400">
                <a:solidFill>
                  <a:srgbClr val="FFFFFF"/>
                </a:solidFill>
                <a:latin typeface="Microsoft YaHei"/>
              </a:rPr>
              <a:t>• 目标营收 1.6 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120640"/>
            <a:ext cx="110642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